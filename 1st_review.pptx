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1" r:id="rId3"/>
    <p:sldId id="257" r:id="rId4"/>
    <p:sldId id="258" r:id="rId5"/>
    <p:sldId id="260" r:id="rId6"/>
    <p:sldId id="262" r:id="rId7"/>
    <p:sldId id="263" r:id="rId8"/>
    <p:sldId id="264" r:id="rId9"/>
    <p:sldId id="265" r:id="rId10"/>
    <p:sldId id="285" r:id="rId11"/>
    <p:sldId id="284" r:id="rId12"/>
    <p:sldId id="266" r:id="rId13"/>
    <p:sldId id="281" r:id="rId14"/>
    <p:sldId id="267" r:id="rId15"/>
    <p:sldId id="268" r:id="rId16"/>
    <p:sldId id="282" r:id="rId17"/>
    <p:sldId id="283" r:id="rId18"/>
    <p:sldId id="269" r:id="rId19"/>
    <p:sldId id="270" r:id="rId20"/>
    <p:sldId id="271" r:id="rId21"/>
    <p:sldId id="286" r:id="rId22"/>
    <p:sldId id="272" r:id="rId23"/>
    <p:sldId id="273" r:id="rId24"/>
    <p:sldId id="287" r:id="rId25"/>
    <p:sldId id="288" r:id="rId26"/>
    <p:sldId id="289" r:id="rId27"/>
    <p:sldId id="290" r:id="rId28"/>
    <p:sldId id="274" r:id="rId29"/>
    <p:sldId id="275" r:id="rId30"/>
    <p:sldId id="276" r:id="rId31"/>
    <p:sldId id="277" r:id="rId32"/>
    <p:sldId id="278" r:id="rId33"/>
    <p:sldId id="279" r:id="rId34"/>
    <p:sldId id="280" r:id="rId3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752157"/>
            <a:ext cx="5988050" cy="456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1539875"/>
            <a:ext cx="6935470" cy="4481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888746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214466"/>
                </a:solidFill>
              </a:rPr>
              <a:t>Hardware</a:t>
            </a:r>
            <a:r>
              <a:rPr sz="3450" spc="-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&amp;</a:t>
            </a:r>
            <a:r>
              <a:rPr sz="3450" spc="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Plywood</a:t>
            </a:r>
            <a:r>
              <a:rPr sz="3450" spc="-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Store</a:t>
            </a:r>
            <a:r>
              <a:rPr sz="3450" spc="5" dirty="0">
                <a:solidFill>
                  <a:srgbClr val="214466"/>
                </a:solidFill>
              </a:rPr>
              <a:t> </a:t>
            </a:r>
            <a:r>
              <a:rPr sz="3450" dirty="0">
                <a:solidFill>
                  <a:srgbClr val="214466"/>
                </a:solidFill>
              </a:rPr>
              <a:t>Analytics</a:t>
            </a:r>
            <a:r>
              <a:rPr sz="3450" spc="-5" dirty="0">
                <a:solidFill>
                  <a:srgbClr val="214466"/>
                </a:solidFill>
              </a:rPr>
              <a:t> </a:t>
            </a:r>
            <a:r>
              <a:rPr sz="3450" spc="-10" dirty="0">
                <a:solidFill>
                  <a:srgbClr val="214466"/>
                </a:solidFill>
              </a:rPr>
              <a:t>System</a:t>
            </a:r>
            <a:endParaRPr sz="3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F012-AC41-8324-7C29-3329F4C1E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82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609407"/>
            <a:ext cx="296862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20" dirty="0"/>
              <a:t> </a:t>
            </a:r>
            <a:r>
              <a:rPr dirty="0"/>
              <a:t>1:</a:t>
            </a:r>
            <a:r>
              <a:rPr spc="25" dirty="0"/>
              <a:t> </a:t>
            </a:r>
            <a:r>
              <a:rPr dirty="0"/>
              <a:t>Title</a:t>
            </a:r>
            <a:r>
              <a:rPr spc="25" dirty="0"/>
              <a:t> </a:t>
            </a:r>
            <a:r>
              <a:rPr spc="-10" dirty="0"/>
              <a:t>Slide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038599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2252345"/>
            <a:ext cx="6466840" cy="199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79955">
              <a:lnSpc>
                <a:spcPct val="127899"/>
              </a:lnSpc>
              <a:spcBef>
                <a:spcPts val="9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Hardware</a:t>
            </a:r>
            <a:r>
              <a:rPr sz="215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&amp;</a:t>
            </a:r>
            <a:r>
              <a:rPr sz="215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Plywood</a:t>
            </a:r>
            <a:r>
              <a:rPr sz="2150" spc="2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Store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Marketing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ROI</a:t>
            </a:r>
            <a:r>
              <a:rPr sz="2150" spc="5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&amp;</a:t>
            </a:r>
            <a:r>
              <a:rPr sz="2150" spc="5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Analytics</a:t>
            </a:r>
            <a:r>
              <a:rPr sz="2150" spc="5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System</a:t>
            </a:r>
            <a:endParaRPr sz="215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i="1" dirty="0">
                <a:solidFill>
                  <a:srgbClr val="1F2328"/>
                </a:solidFill>
                <a:latin typeface="Segoe UI"/>
                <a:cs typeface="Segoe UI"/>
              </a:rPr>
              <a:t>Complete</a:t>
            </a:r>
            <a:r>
              <a:rPr sz="2150" i="1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i="1" spc="-10" dirty="0">
                <a:solidFill>
                  <a:srgbClr val="1F2328"/>
                </a:solidFill>
                <a:latin typeface="Segoe UI"/>
                <a:cs typeface="Segoe UI"/>
              </a:rPr>
              <a:t>Web-</a:t>
            </a:r>
            <a:r>
              <a:rPr sz="2150" i="1" dirty="0">
                <a:solidFill>
                  <a:srgbClr val="1F2328"/>
                </a:solidFill>
                <a:latin typeface="Segoe UI"/>
                <a:cs typeface="Segoe UI"/>
              </a:rPr>
              <a:t>Based</a:t>
            </a:r>
            <a:r>
              <a:rPr sz="2150" i="1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i="1" dirty="0">
                <a:solidFill>
                  <a:srgbClr val="1F2328"/>
                </a:solidFill>
                <a:latin typeface="Segoe UI"/>
                <a:cs typeface="Segoe UI"/>
              </a:rPr>
              <a:t>Analytics</a:t>
            </a:r>
            <a:r>
              <a:rPr sz="2150" i="1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i="1" spc="-10" dirty="0">
                <a:solidFill>
                  <a:srgbClr val="1F2328"/>
                </a:solidFill>
                <a:latin typeface="Segoe UI"/>
                <a:cs typeface="Segoe UI"/>
              </a:rPr>
              <a:t>Solution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Technology:</a:t>
            </a:r>
            <a:r>
              <a:rPr sz="215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Flask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+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MySQL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+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Machine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Learning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20" dirty="0"/>
              <a:t> </a:t>
            </a:r>
            <a:r>
              <a:rPr dirty="0"/>
              <a:t>2:</a:t>
            </a:r>
            <a:r>
              <a:rPr spc="20" dirty="0"/>
              <a:t> </a:t>
            </a:r>
            <a:r>
              <a:rPr dirty="0"/>
              <a:t>Project</a:t>
            </a:r>
            <a:r>
              <a:rPr spc="2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5186" y="1447800"/>
            <a:ext cx="11022013" cy="40344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Business</a:t>
            </a:r>
            <a:r>
              <a:rPr sz="2150" spc="8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Problem:</a:t>
            </a:r>
            <a:endParaRPr sz="2150" dirty="0">
              <a:latin typeface="Segoe UI Semibold"/>
              <a:cs typeface="Segoe UI Semibold"/>
            </a:endParaRPr>
          </a:p>
          <a:p>
            <a:pPr marL="907415" marR="151765" indent="-342900">
              <a:lnSpc>
                <a:spcPct val="1483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lang="en-US" sz="2150" dirty="0">
                <a:solidFill>
                  <a:srgbClr val="1F2328"/>
                </a:solidFill>
                <a:latin typeface="Segoe UI"/>
                <a:cs typeface="Segoe UI"/>
              </a:rPr>
              <a:t>Manual</a:t>
            </a:r>
            <a:r>
              <a:rPr lang="en-US"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lang="en-US" sz="2150" dirty="0">
                <a:solidFill>
                  <a:srgbClr val="1F2328"/>
                </a:solidFill>
                <a:latin typeface="Segoe UI"/>
                <a:cs typeface="Segoe UI"/>
              </a:rPr>
              <a:t>inventory</a:t>
            </a:r>
            <a:r>
              <a:rPr lang="en-US"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lang="en-US" sz="2150" dirty="0">
                <a:solidFill>
                  <a:srgbClr val="1F2328"/>
                </a:solidFill>
                <a:latin typeface="Segoe UI"/>
                <a:cs typeface="Segoe UI"/>
              </a:rPr>
              <a:t>tracking</a:t>
            </a:r>
          </a:p>
          <a:p>
            <a:pPr marL="907415" marR="151765" indent="-342900">
              <a:lnSpc>
                <a:spcPct val="1483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No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analytics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or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insights</a:t>
            </a:r>
            <a:endParaRPr sz="2150" dirty="0">
              <a:latin typeface="Segoe UI"/>
              <a:cs typeface="Segoe UI"/>
            </a:endParaRPr>
          </a:p>
          <a:p>
            <a:pPr marL="907415" indent="-342900">
              <a:lnSpc>
                <a:spcPct val="100000"/>
              </a:lnSpc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Unknown</a:t>
            </a:r>
            <a:r>
              <a:rPr sz="2150" spc="10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marketing</a:t>
            </a:r>
            <a:r>
              <a:rPr sz="2150" spc="9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ROI</a:t>
            </a:r>
            <a:endParaRPr sz="2150" dirty="0">
              <a:latin typeface="Segoe UI"/>
              <a:cs typeface="Segoe UI"/>
            </a:endParaRPr>
          </a:p>
          <a:p>
            <a:pPr marL="907415" indent="-342900">
              <a:lnSpc>
                <a:spcPct val="100000"/>
              </a:lnSpc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Stock-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outs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8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overstocking</a:t>
            </a:r>
            <a:r>
              <a:rPr sz="2150" spc="9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issues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Our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Solution:</a:t>
            </a:r>
            <a:endParaRPr sz="2150" dirty="0">
              <a:latin typeface="Segoe UI Semibold"/>
              <a:cs typeface="Segoe UI Semibold"/>
            </a:endParaRPr>
          </a:p>
          <a:p>
            <a:pPr marL="907415" marR="5080" indent="-342900">
              <a:lnSpc>
                <a:spcPct val="14530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Web-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based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dashboard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with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real-time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data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Interactive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charts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visualizations</a:t>
            </a:r>
            <a:endParaRPr sz="2150" dirty="0">
              <a:latin typeface="Segoe UI"/>
              <a:cs typeface="Segoe UI"/>
            </a:endParaRPr>
          </a:p>
          <a:p>
            <a:pPr marL="907415" marR="1203960" indent="-342900">
              <a:lnSpc>
                <a:spcPts val="3829"/>
              </a:lnSpc>
              <a:spcBef>
                <a:spcPts val="130"/>
              </a:spcBef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ML-powered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predictions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Multi-format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file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upload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support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-25" dirty="0"/>
              <a:t> </a:t>
            </a:r>
            <a:r>
              <a:rPr dirty="0"/>
              <a:t>3:</a:t>
            </a:r>
            <a:r>
              <a:rPr spc="-25" dirty="0"/>
              <a:t> </a:t>
            </a:r>
            <a:r>
              <a:rPr spc="-10" dirty="0"/>
              <a:t>Technology</a:t>
            </a:r>
            <a:r>
              <a:rPr spc="-25" dirty="0"/>
              <a:t> </a:t>
            </a:r>
            <a:r>
              <a:rPr spc="-10" dirty="0"/>
              <a:t>Stack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4800" y="1447800"/>
            <a:ext cx="11201400" cy="4973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Backend:</a:t>
            </a:r>
            <a:endParaRPr sz="2150" dirty="0">
              <a:latin typeface="Segoe UI Semibold"/>
              <a:cs typeface="Segoe UI Semibold"/>
            </a:endParaRPr>
          </a:p>
          <a:p>
            <a:pPr marL="564515" marR="737235">
              <a:lnSpc>
                <a:spcPct val="148300"/>
              </a:lnSpc>
              <a:spcBef>
                <a:spcPts val="59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Python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3.10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Core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language </a:t>
            </a:r>
            <a:br>
              <a:rPr lang="en-US" sz="2150" spc="-10" dirty="0">
                <a:solidFill>
                  <a:srgbClr val="1F2328"/>
                </a:solidFill>
                <a:latin typeface="Segoe UI"/>
                <a:cs typeface="Segoe UI"/>
              </a:rPr>
            </a:b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Flask</a:t>
            </a:r>
            <a:r>
              <a:rPr sz="215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3.0</a:t>
            </a:r>
            <a:r>
              <a:rPr sz="215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Web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framework </a:t>
            </a:r>
            <a:br>
              <a:rPr lang="en-US" sz="2150" spc="-10" dirty="0">
                <a:solidFill>
                  <a:srgbClr val="1F2328"/>
                </a:solidFill>
                <a:latin typeface="Segoe UI"/>
                <a:cs typeface="Segoe UI"/>
              </a:rPr>
            </a:b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MySQL</a:t>
            </a:r>
            <a:r>
              <a:rPr sz="2150" spc="3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8.0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Database </a:t>
            </a:r>
            <a:br>
              <a:rPr lang="en-US" sz="2150" spc="-10" dirty="0">
                <a:solidFill>
                  <a:srgbClr val="1F2328"/>
                </a:solidFill>
                <a:latin typeface="Segoe UI"/>
                <a:cs typeface="Segoe UI"/>
              </a:rPr>
            </a:b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pandas</a:t>
            </a:r>
            <a:r>
              <a:rPr sz="2150" spc="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processing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scikit-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learn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Machine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learning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Frontend:</a:t>
            </a:r>
            <a:endParaRPr sz="2150" dirty="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Bootstrap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5.3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Responsive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UI</a:t>
            </a:r>
            <a:endParaRPr sz="2150" dirty="0">
              <a:latin typeface="Segoe UI"/>
              <a:cs typeface="Segoe UI"/>
            </a:endParaRPr>
          </a:p>
          <a:p>
            <a:pPr marL="564515" algn="l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Chart.js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4.4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Interactive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charts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JavaScript</a:t>
            </a:r>
            <a:r>
              <a:rPr sz="215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ES6</a:t>
            </a:r>
            <a:r>
              <a:rPr sz="2150" spc="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Client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interactivity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2400"/>
            <a:ext cx="59880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10" dirty="0"/>
              <a:t> </a:t>
            </a:r>
            <a:r>
              <a:rPr dirty="0"/>
              <a:t>4:</a:t>
            </a:r>
            <a:r>
              <a:rPr spc="15" dirty="0"/>
              <a:t> </a:t>
            </a:r>
            <a:r>
              <a:rPr dirty="0"/>
              <a:t>Database</a:t>
            </a:r>
            <a:r>
              <a:rPr spc="1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2722" y="759090"/>
            <a:ext cx="7080884" cy="44184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5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Main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Tables:</a:t>
            </a:r>
            <a:endParaRPr sz="2150" dirty="0">
              <a:latin typeface="Segoe UI Semibold"/>
              <a:cs typeface="Segoe UI Semibold"/>
            </a:endParaRPr>
          </a:p>
          <a:p>
            <a:pPr marL="563880" indent="-283845">
              <a:lnSpc>
                <a:spcPct val="100000"/>
              </a:lnSpc>
              <a:spcBef>
                <a:spcPts val="18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users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Login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credentials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(admin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users)</a:t>
            </a:r>
            <a:endParaRPr sz="2150" dirty="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products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Product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master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list</a:t>
            </a:r>
            <a:endParaRPr sz="2150" dirty="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stock_entries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Daily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transaction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log</a:t>
            </a:r>
            <a:endParaRPr sz="2150" dirty="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monthly_stock_summary</a:t>
            </a:r>
            <a:r>
              <a:rPr sz="2150" spc="13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1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Aggregated</a:t>
            </a:r>
            <a:r>
              <a:rPr sz="2150" spc="1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monthly</a:t>
            </a:r>
            <a:r>
              <a:rPr sz="2150" spc="1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endParaRPr sz="2150" dirty="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170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marketing_spend</a:t>
            </a:r>
            <a:r>
              <a:rPr sz="2150" spc="5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Daily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marketing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expenses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Features:</a:t>
            </a:r>
            <a:endParaRPr sz="2150" dirty="0">
              <a:latin typeface="Segoe UI Semibold"/>
              <a:cs typeface="Segoe UI Semibold"/>
            </a:endParaRPr>
          </a:p>
          <a:p>
            <a:pPr marL="564515" marR="1012190">
              <a:lnSpc>
                <a:spcPct val="148300"/>
              </a:lnSpc>
              <a:spcBef>
                <a:spcPts val="5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Foreign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key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constraints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with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CASCADE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delete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Indexes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on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join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columns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performanc</a:t>
            </a:r>
            <a:r>
              <a:rPr lang="en-US" sz="2150" spc="-10" dirty="0">
                <a:solidFill>
                  <a:srgbClr val="1F2328"/>
                </a:solidFill>
                <a:latin typeface="Segoe UI"/>
                <a:cs typeface="Segoe UI"/>
              </a:rPr>
              <a:t>e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B57484-EF1A-16F4-5598-0DD767406940}"/>
              </a:ext>
            </a:extLst>
          </p:cNvPr>
          <p:cNvSpPr txBox="1"/>
          <p:nvPr/>
        </p:nvSpPr>
        <p:spPr>
          <a:xfrm>
            <a:off x="681037" y="5278002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7415" indent="-342900">
              <a:lnSpc>
                <a:spcPct val="100000"/>
              </a:lnSpc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F2328"/>
                </a:solidFill>
                <a:latin typeface="Segoe UI"/>
                <a:cs typeface="Segoe UI"/>
              </a:rPr>
              <a:t>Normalized</a:t>
            </a:r>
            <a:r>
              <a:rPr lang="en-US" sz="180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lang="en-US" sz="1800" dirty="0">
                <a:solidFill>
                  <a:srgbClr val="1F2328"/>
                </a:solidFill>
                <a:latin typeface="Segoe UI"/>
                <a:cs typeface="Segoe UI"/>
              </a:rPr>
              <a:t>schema</a:t>
            </a:r>
            <a:r>
              <a:rPr lang="en-US" sz="180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lang="en-US" sz="1800" spc="-10" dirty="0">
                <a:solidFill>
                  <a:srgbClr val="1F2328"/>
                </a:solidFill>
                <a:latin typeface="Segoe UI"/>
                <a:cs typeface="Segoe UI"/>
              </a:rPr>
              <a:t>(3NF)</a:t>
            </a:r>
            <a:endParaRPr lang="en-US" sz="1800" dirty="0">
              <a:latin typeface="Segoe UI"/>
              <a:cs typeface="Segoe UI"/>
            </a:endParaRPr>
          </a:p>
          <a:p>
            <a:pPr marL="907415" indent="-342900">
              <a:lnSpc>
                <a:spcPct val="100000"/>
              </a:lnSpc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F2328"/>
                </a:solidFill>
                <a:latin typeface="Segoe UI"/>
                <a:cs typeface="Segoe UI"/>
              </a:rPr>
              <a:t>~400</a:t>
            </a:r>
            <a:r>
              <a:rPr lang="en-US" sz="180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lang="en-US" sz="1800" dirty="0">
                <a:solidFill>
                  <a:srgbClr val="1F2328"/>
                </a:solidFill>
                <a:latin typeface="Segoe UI"/>
                <a:cs typeface="Segoe UI"/>
              </a:rPr>
              <a:t>rows</a:t>
            </a:r>
            <a:r>
              <a:rPr lang="en-US" sz="180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lang="en-US" sz="1800" dirty="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lang="en-US" sz="180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lang="en-US" sz="1800" dirty="0">
                <a:solidFill>
                  <a:srgbClr val="1F2328"/>
                </a:solidFill>
                <a:latin typeface="Segoe UI"/>
                <a:cs typeface="Segoe UI"/>
              </a:rPr>
              <a:t>initial</a:t>
            </a:r>
            <a:r>
              <a:rPr lang="en-US" sz="180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lang="en-US" sz="1800" spc="-2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806" y="305119"/>
            <a:ext cx="59880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25" dirty="0"/>
              <a:t> </a:t>
            </a:r>
            <a:r>
              <a:rPr dirty="0"/>
              <a:t>5:</a:t>
            </a:r>
            <a:r>
              <a:rPr spc="30" dirty="0"/>
              <a:t> </a:t>
            </a:r>
            <a:r>
              <a:rPr dirty="0"/>
              <a:t>Login</a:t>
            </a:r>
            <a:r>
              <a:rPr spc="30" dirty="0"/>
              <a:t> </a:t>
            </a:r>
            <a:r>
              <a:rPr spc="-20" dirty="0"/>
              <a:t>Page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9849" y="914400"/>
            <a:ext cx="5203190" cy="5443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How</a:t>
            </a:r>
            <a:r>
              <a:rPr sz="215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It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Works:</a:t>
            </a:r>
            <a:endParaRPr sz="2150" dirty="0">
              <a:latin typeface="Segoe UI Semibold"/>
              <a:cs typeface="Segoe UI Semibold"/>
            </a:endParaRPr>
          </a:p>
          <a:p>
            <a:pPr marL="563880" indent="-283845">
              <a:lnSpc>
                <a:spcPct val="100000"/>
              </a:lnSpc>
              <a:spcBef>
                <a:spcPts val="18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User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enters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username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&amp;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password</a:t>
            </a:r>
            <a:endParaRPr sz="2150" dirty="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Backend</a:t>
            </a:r>
            <a:r>
              <a:rPr sz="2150" spc="8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validates</a:t>
            </a:r>
            <a:r>
              <a:rPr sz="2150" spc="8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against</a:t>
            </a:r>
            <a:r>
              <a:rPr sz="2150" spc="8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database</a:t>
            </a:r>
            <a:endParaRPr sz="2150" dirty="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Password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verified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using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bcrypt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hash</a:t>
            </a:r>
            <a:endParaRPr sz="2150" dirty="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Session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created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on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success</a:t>
            </a:r>
            <a:endParaRPr sz="2150" dirty="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Redirects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dashboard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Security</a:t>
            </a:r>
            <a:r>
              <a:rPr sz="2150" spc="7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Features:</a:t>
            </a:r>
            <a:endParaRPr sz="2150" dirty="0">
              <a:latin typeface="Segoe UI Semibold"/>
              <a:cs typeface="Segoe UI Semibold"/>
            </a:endParaRPr>
          </a:p>
          <a:p>
            <a:pPr marL="564515" marR="335280">
              <a:lnSpc>
                <a:spcPct val="148300"/>
              </a:lnSpc>
              <a:spcBef>
                <a:spcPts val="5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PBKDF2-SHA256</a:t>
            </a:r>
            <a:r>
              <a:rPr sz="2150" spc="1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password</a:t>
            </a:r>
            <a:r>
              <a:rPr sz="2150" spc="1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hashing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SQL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injection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prevention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Session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encryption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Login-required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decorator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on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all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pages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71307"/>
            <a:ext cx="708914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 6: Dashboard</a:t>
            </a:r>
            <a:r>
              <a:rPr spc="5" dirty="0"/>
              <a:t> </a:t>
            </a:r>
            <a:r>
              <a:rPr dirty="0"/>
              <a:t>- Product</a:t>
            </a:r>
            <a:r>
              <a:rPr spc="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7135" y="2343632"/>
            <a:ext cx="4906010" cy="2938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Purpose: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Central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hub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quick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actions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spc="-35" dirty="0">
                <a:solidFill>
                  <a:srgbClr val="1F2328"/>
                </a:solidFill>
                <a:latin typeface="Segoe UI Semibold"/>
                <a:cs typeface="Segoe UI Semibold"/>
              </a:rPr>
              <a:t>Tab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 1 -</a:t>
            </a:r>
            <a:r>
              <a:rPr sz="215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Products</a:t>
            </a:r>
            <a:r>
              <a:rPr sz="2150" spc="-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&amp;</a:t>
            </a:r>
            <a:r>
              <a:rPr sz="215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Overview:</a:t>
            </a:r>
            <a:endParaRPr sz="2150" dirty="0">
              <a:latin typeface="Segoe UI Semibold"/>
              <a:cs typeface="Segoe UI Semibold"/>
            </a:endParaRPr>
          </a:p>
          <a:p>
            <a:pPr marL="564515" marR="167005">
              <a:lnSpc>
                <a:spcPct val="148300"/>
              </a:lnSpc>
              <a:spcBef>
                <a:spcPts val="67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Stock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overview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table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(all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products)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Add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new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product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form</a:t>
            </a:r>
            <a:endParaRPr sz="2150" dirty="0">
              <a:latin typeface="Segoe UI"/>
              <a:cs typeface="Segoe UI"/>
            </a:endParaRPr>
          </a:p>
          <a:p>
            <a:pPr marL="564515" marR="5080">
              <a:lnSpc>
                <a:spcPts val="3829"/>
              </a:lnSpc>
              <a:spcBef>
                <a:spcPts val="6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Delete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products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(with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confirmation)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Current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stock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levels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&amp;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values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666999"/>
            <a:ext cx="95250" cy="95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152774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63854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114799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1958975"/>
            <a:ext cx="5679440" cy="237270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35" dirty="0">
                <a:solidFill>
                  <a:srgbClr val="1F2328"/>
                </a:solidFill>
                <a:latin typeface="Segoe UI Semibold"/>
                <a:cs typeface="Segoe UI Semibold"/>
              </a:rPr>
              <a:t>Tab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 2</a:t>
            </a:r>
            <a:r>
              <a:rPr sz="2150" spc="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-</a:t>
            </a:r>
            <a:r>
              <a:rPr sz="215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Navigation</a:t>
            </a:r>
            <a:r>
              <a:rPr sz="2150" spc="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Hub:</a:t>
            </a:r>
            <a:endParaRPr sz="2150" dirty="0">
              <a:latin typeface="Segoe UI Semibold"/>
              <a:cs typeface="Segoe UI Semibold"/>
            </a:endParaRPr>
          </a:p>
          <a:p>
            <a:pPr marL="564515" marR="809625">
              <a:lnSpc>
                <a:spcPct val="148300"/>
              </a:lnSpc>
              <a:spcBef>
                <a:spcPts val="5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Links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Stock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Log,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Monthly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History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Upload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Data,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Predictions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Database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cleanup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(danger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zone)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Available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months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quick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list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817C0-CCD5-A371-99D6-0B60DCCC5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7459"/>
            <a:ext cx="12192000" cy="584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3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71B988-66EE-1266-496E-FF71C87E3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209"/>
            <a:ext cx="12192000" cy="574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4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 7:</a:t>
            </a:r>
            <a:r>
              <a:rPr spc="5" dirty="0"/>
              <a:t> </a:t>
            </a:r>
            <a:r>
              <a:rPr dirty="0"/>
              <a:t>Stock Movement</a:t>
            </a:r>
            <a:r>
              <a:rPr spc="5" dirty="0"/>
              <a:t> </a:t>
            </a:r>
            <a:r>
              <a:rPr spc="-25" dirty="0"/>
              <a:t>Log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70927" y="1524000"/>
            <a:ext cx="5316220" cy="50064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Purpose:</a:t>
            </a:r>
            <a:r>
              <a:rPr sz="215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Track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every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inventory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transaction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Key</a:t>
            </a:r>
            <a:r>
              <a:rPr sz="215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Features:</a:t>
            </a:r>
            <a:endParaRPr sz="2150" dirty="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Triple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filter: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Product,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Month,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Year</a:t>
            </a:r>
            <a:endParaRPr sz="2150" dirty="0">
              <a:latin typeface="Segoe UI"/>
              <a:cs typeface="Segoe UI"/>
            </a:endParaRPr>
          </a:p>
          <a:p>
            <a:pPr marL="564515" marR="393700">
              <a:lnSpc>
                <a:spcPct val="146800"/>
              </a:lnSpc>
              <a:spcBef>
                <a:spcPts val="3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Scrollable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table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with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all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transactions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Bulk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delete: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Select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multiple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entries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Add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entry</a:t>
            </a:r>
            <a:r>
              <a:rPr sz="2150" spc="7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form:</a:t>
            </a:r>
            <a:r>
              <a:rPr sz="2150" spc="7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Quick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entry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How</a:t>
            </a:r>
            <a:r>
              <a:rPr sz="215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It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Works:</a:t>
            </a:r>
            <a:endParaRPr sz="2150" dirty="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Results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displayed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sortable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table</a:t>
            </a:r>
            <a:endParaRPr sz="2150" dirty="0">
              <a:latin typeface="Segoe UI"/>
              <a:cs typeface="Segoe UI"/>
            </a:endParaRPr>
          </a:p>
          <a:p>
            <a:pPr marL="564515" marR="5080">
              <a:lnSpc>
                <a:spcPts val="3829"/>
              </a:lnSpc>
              <a:spcBef>
                <a:spcPts val="13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Checkbox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selection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bulk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operations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Real-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time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updates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after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changes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03F55F-FF46-0946-BEB5-FFA4E1F80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19634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82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371282"/>
            <a:ext cx="775462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35" dirty="0"/>
              <a:t> </a:t>
            </a:r>
            <a:r>
              <a:rPr dirty="0"/>
              <a:t>8:</a:t>
            </a:r>
            <a:r>
              <a:rPr spc="35" dirty="0"/>
              <a:t> </a:t>
            </a:r>
            <a:r>
              <a:rPr dirty="0"/>
              <a:t>Monthly</a:t>
            </a:r>
            <a:r>
              <a:rPr spc="40" dirty="0"/>
              <a:t> </a:t>
            </a:r>
            <a:r>
              <a:rPr dirty="0"/>
              <a:t>History</a:t>
            </a:r>
            <a:r>
              <a:rPr spc="35" dirty="0"/>
              <a:t> </a:t>
            </a:r>
            <a:r>
              <a:rPr dirty="0"/>
              <a:t>-</a:t>
            </a:r>
            <a:r>
              <a:rPr spc="35" dirty="0"/>
              <a:t> </a:t>
            </a:r>
            <a:r>
              <a:rPr dirty="0"/>
              <a:t>Analytics</a:t>
            </a:r>
            <a:r>
              <a:rPr spc="40" dirty="0"/>
              <a:t> </a:t>
            </a:r>
            <a:r>
              <a:rPr spc="-10" dirty="0"/>
              <a:t>Dashboard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381374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86714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4271962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757737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5243512"/>
            <a:ext cx="104775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101850"/>
            <a:ext cx="5768340" cy="3357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Purpose: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Visual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insights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into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performance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Features:</a:t>
            </a:r>
            <a:endParaRPr sz="215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Month/Year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selector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dropdown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3</a:t>
            </a:r>
            <a:r>
              <a:rPr sz="215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Key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Insights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Cards:</a:t>
            </a:r>
            <a:endParaRPr sz="2150">
              <a:latin typeface="Segoe UI Semibold"/>
              <a:cs typeface="Segoe UI Semibold"/>
            </a:endParaRPr>
          </a:p>
          <a:p>
            <a:pPr marL="1116965">
              <a:lnSpc>
                <a:spcPct val="100000"/>
              </a:lnSpc>
              <a:spcBef>
                <a:spcPts val="645"/>
              </a:spcBef>
            </a:pP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Top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product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by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value</a:t>
            </a:r>
            <a:endParaRPr sz="2150">
              <a:latin typeface="Segoe UI"/>
              <a:cs typeface="Segoe UI"/>
            </a:endParaRPr>
          </a:p>
          <a:p>
            <a:pPr marL="1116965" marR="1009650">
              <a:lnSpc>
                <a:spcPts val="3829"/>
              </a:lnSpc>
              <a:spcBef>
                <a:spcPts val="13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Lowest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product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by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value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Most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quantity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sold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1997075"/>
            <a:ext cx="7819390" cy="2861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5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Interactive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Charts:</a:t>
            </a:r>
            <a:endParaRPr sz="2150">
              <a:latin typeface="Segoe UI Semibold"/>
              <a:cs typeface="Segoe UI Semibold"/>
            </a:endParaRPr>
          </a:p>
          <a:p>
            <a:pPr marL="563880" indent="-283845">
              <a:lnSpc>
                <a:spcPct val="100000"/>
              </a:lnSpc>
              <a:spcBef>
                <a:spcPts val="1920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Horizontal</a:t>
            </a:r>
            <a:r>
              <a:rPr sz="2150" spc="3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Bar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Monthly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by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product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170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Doughnut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Chart</a:t>
            </a:r>
            <a:r>
              <a:rPr sz="2150" spc="6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Sold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quantity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distribution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Grouped</a:t>
            </a:r>
            <a:r>
              <a:rPr sz="215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Bar</a:t>
            </a:r>
            <a:r>
              <a:rPr sz="2150" spc="2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Stock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flow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(Opening/Received/Sold/Closing)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Pie</a:t>
            </a:r>
            <a:r>
              <a:rPr sz="2150" spc="5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Chart</a:t>
            </a:r>
            <a:r>
              <a:rPr sz="2150" spc="5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Marketing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channel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allocation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Line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Chart</a:t>
            </a:r>
            <a:r>
              <a:rPr sz="2150" spc="5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Month-on-month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trend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0F8816-4C5D-A5CE-AC77-1C231BF30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856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D6A47D-FFD1-B92E-F0AA-A25BD5AD9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"/>
            <a:ext cx="121920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94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45" dirty="0"/>
              <a:t> </a:t>
            </a:r>
            <a:r>
              <a:rPr dirty="0"/>
              <a:t>9:</a:t>
            </a:r>
            <a:r>
              <a:rPr spc="50" dirty="0"/>
              <a:t> </a:t>
            </a:r>
            <a:r>
              <a:rPr dirty="0"/>
              <a:t>How</a:t>
            </a:r>
            <a:r>
              <a:rPr spc="50" dirty="0"/>
              <a:t> </a:t>
            </a:r>
            <a:r>
              <a:rPr dirty="0"/>
              <a:t>Charts</a:t>
            </a:r>
            <a:r>
              <a:rPr spc="5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012" y="1482725"/>
            <a:ext cx="5843905" cy="5443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Backend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Process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(Python/Flask):</a:t>
            </a:r>
            <a:endParaRPr sz="2150">
              <a:latin typeface="Segoe UI Semibold"/>
              <a:cs typeface="Segoe UI Semibold"/>
            </a:endParaRPr>
          </a:p>
          <a:p>
            <a:pPr marL="563880" indent="-283845">
              <a:lnSpc>
                <a:spcPct val="100000"/>
              </a:lnSpc>
              <a:spcBef>
                <a:spcPts val="18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Query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database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selected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month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Aggregate</a:t>
            </a:r>
            <a:r>
              <a:rPr sz="2150" spc="8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sales,</a:t>
            </a:r>
            <a:r>
              <a:rPr sz="2150" spc="9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quantities,</a:t>
            </a:r>
            <a:r>
              <a:rPr sz="2150" spc="9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marketing</a:t>
            </a:r>
            <a:r>
              <a:rPr sz="2150" spc="9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Convert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JSON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format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Pass to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HTML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template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Frontend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Rendering</a:t>
            </a:r>
            <a:r>
              <a:rPr sz="2150" spc="5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(Chart.js):</a:t>
            </a:r>
            <a:endParaRPr sz="2150">
              <a:latin typeface="Segoe UI Semibold"/>
              <a:cs typeface="Segoe UI Semibold"/>
            </a:endParaRPr>
          </a:p>
          <a:p>
            <a:pPr marL="563880" lvl="1" indent="-283845">
              <a:lnSpc>
                <a:spcPct val="100000"/>
              </a:lnSpc>
              <a:spcBef>
                <a:spcPts val="1920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Parse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JSON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endParaRPr sz="2150">
              <a:latin typeface="Segoe UI"/>
              <a:cs typeface="Segoe UI"/>
            </a:endParaRPr>
          </a:p>
          <a:p>
            <a:pPr marL="563880" lvl="1" indent="-28384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</a:t>
            </a:r>
            <a:r>
              <a:rPr sz="2150" spc="8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Chart.js</a:t>
            </a:r>
            <a:r>
              <a:rPr sz="2150" spc="9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configuration</a:t>
            </a:r>
            <a:r>
              <a:rPr sz="2150" spc="9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objects</a:t>
            </a:r>
            <a:endParaRPr sz="2150">
              <a:latin typeface="Segoe UI"/>
              <a:cs typeface="Segoe UI"/>
            </a:endParaRPr>
          </a:p>
          <a:p>
            <a:pPr marL="563880" lvl="1" indent="-28384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Apply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colors,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gradients,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animations</a:t>
            </a:r>
            <a:endParaRPr sz="2150">
              <a:latin typeface="Segoe UI"/>
              <a:cs typeface="Segoe UI"/>
            </a:endParaRPr>
          </a:p>
          <a:p>
            <a:pPr marL="563880" lvl="1" indent="-28384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Add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Labels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plugin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values</a:t>
            </a:r>
            <a:endParaRPr sz="2150">
              <a:latin typeface="Segoe UI"/>
              <a:cs typeface="Segoe UI"/>
            </a:endParaRPr>
          </a:p>
          <a:p>
            <a:pPr marL="563880" lvl="1" indent="-28384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Render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interactive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charts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with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tooltips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10" dirty="0"/>
              <a:t> </a:t>
            </a:r>
            <a:r>
              <a:rPr dirty="0"/>
              <a:t>10:</a:t>
            </a:r>
            <a:r>
              <a:rPr spc="15" dirty="0"/>
              <a:t> </a:t>
            </a:r>
            <a:r>
              <a:rPr dirty="0"/>
              <a:t>Upload</a:t>
            </a:r>
            <a:r>
              <a:rPr spc="15" dirty="0"/>
              <a:t> </a:t>
            </a:r>
            <a:r>
              <a:rPr dirty="0"/>
              <a:t>Data</a:t>
            </a:r>
            <a:r>
              <a:rPr spc="15" dirty="0"/>
              <a:t> </a:t>
            </a:r>
            <a:r>
              <a:rPr spc="-20" dirty="0"/>
              <a:t>Page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324224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80999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295774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5429249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5915024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6391274"/>
            <a:ext cx="95250" cy="952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1482725"/>
            <a:ext cx="9726930" cy="5119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Purpose: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Import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from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multiple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file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formats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Two</a:t>
            </a:r>
            <a:r>
              <a:rPr sz="2150" spc="-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Upload</a:t>
            </a:r>
            <a:r>
              <a:rPr sz="2150" spc="-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Forms:</a:t>
            </a:r>
            <a:endParaRPr sz="2150">
              <a:latin typeface="Segoe UI Semibold"/>
              <a:cs typeface="Segoe UI Semibold"/>
            </a:endParaRPr>
          </a:p>
          <a:p>
            <a:pPr marL="265430" indent="-252729">
              <a:lnSpc>
                <a:spcPct val="100000"/>
              </a:lnSpc>
              <a:spcBef>
                <a:spcPts val="1920"/>
              </a:spcBef>
              <a:buAutoNum type="arabicPeriod"/>
              <a:tabLst>
                <a:tab pos="26543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Stock Data</a:t>
            </a:r>
            <a:r>
              <a:rPr sz="215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Uploader:</a:t>
            </a:r>
            <a:endParaRPr sz="215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File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input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+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Year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input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Formats: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CSV,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Excel,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PDF,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Word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Expected</a:t>
            </a:r>
            <a:r>
              <a:rPr sz="2150" spc="10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columns:</a:t>
            </a:r>
            <a:r>
              <a:rPr sz="2150" spc="1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Month,</a:t>
            </a:r>
            <a:r>
              <a:rPr sz="2150" spc="1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Item,</a:t>
            </a:r>
            <a:r>
              <a:rPr sz="2150" spc="1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Opening/Received/Sold/Closing</a:t>
            </a:r>
            <a:r>
              <a:rPr sz="2150" spc="1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quantities</a:t>
            </a:r>
            <a:endParaRPr sz="2150">
              <a:latin typeface="Segoe UI"/>
              <a:cs typeface="Segoe UI"/>
            </a:endParaRPr>
          </a:p>
          <a:p>
            <a:pPr marL="307340" indent="-294640">
              <a:lnSpc>
                <a:spcPct val="100000"/>
              </a:lnSpc>
              <a:spcBef>
                <a:spcPts val="1845"/>
              </a:spcBef>
              <a:buAutoNum type="arabicPeriod" startAt="2"/>
              <a:tabLst>
                <a:tab pos="30734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Marketing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Data</a:t>
            </a:r>
            <a:r>
              <a:rPr sz="2150" spc="5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Uploader:</a:t>
            </a:r>
            <a:endParaRPr sz="215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File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input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only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Formats: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CSV,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Excel,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PDF,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Word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Expected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columns: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Date,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Marketing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spends,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Walk-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ins,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Sales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190874"/>
            <a:ext cx="95250" cy="95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473325"/>
            <a:ext cx="10214610" cy="190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How</a:t>
            </a:r>
            <a:r>
              <a:rPr sz="215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It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Works:</a:t>
            </a:r>
            <a:endParaRPr sz="2150" dirty="0">
              <a:latin typeface="Segoe UI Semibold"/>
              <a:cs typeface="Segoe UI Semibold"/>
            </a:endParaRPr>
          </a:p>
          <a:p>
            <a:pPr marL="564515" marR="5080">
              <a:lnSpc>
                <a:spcPct val="125000"/>
              </a:lnSpc>
              <a:spcBef>
                <a:spcPts val="127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File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uploaded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→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Parsed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(pandas/PyPDF2)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→Validated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→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Inserted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database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50" dirty="0">
                <a:solidFill>
                  <a:srgbClr val="1F2328"/>
                </a:solidFill>
                <a:latin typeface="Segoe UI"/>
                <a:cs typeface="Segoe UI"/>
              </a:rPr>
              <a:t>→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Success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message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C4961-51EF-0C21-6108-3BA6E93DA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368"/>
            <a:ext cx="12192000" cy="580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314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10" dirty="0"/>
              <a:t> </a:t>
            </a:r>
            <a:r>
              <a:rPr dirty="0"/>
              <a:t>11:</a:t>
            </a:r>
            <a:r>
              <a:rPr spc="25" dirty="0"/>
              <a:t> </a:t>
            </a:r>
            <a:r>
              <a:rPr dirty="0"/>
              <a:t>Sales</a:t>
            </a:r>
            <a:r>
              <a:rPr spc="20" dirty="0"/>
              <a:t> </a:t>
            </a:r>
            <a:r>
              <a:rPr dirty="0"/>
              <a:t>Predictions</a:t>
            </a:r>
            <a:r>
              <a:rPr spc="25" dirty="0"/>
              <a:t> </a:t>
            </a:r>
            <a:r>
              <a:rPr dirty="0"/>
              <a:t>(ML</a:t>
            </a:r>
            <a:r>
              <a:rPr spc="25" dirty="0"/>
              <a:t> </a:t>
            </a:r>
            <a:r>
              <a:rPr spc="-10" dirty="0"/>
              <a:t>Page)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762249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248024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724274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1482725"/>
            <a:ext cx="6486525" cy="5043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Purpose:</a:t>
            </a:r>
            <a:r>
              <a:rPr sz="2150" spc="5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Predict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future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using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Machine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Learning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Input</a:t>
            </a:r>
            <a:r>
              <a:rPr sz="2150" spc="5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Form:</a:t>
            </a:r>
            <a:endParaRPr sz="2150">
              <a:latin typeface="Segoe UI Semibold"/>
              <a:cs typeface="Segoe UI Semibold"/>
            </a:endParaRPr>
          </a:p>
          <a:p>
            <a:pPr marL="564515" marR="3749040">
              <a:lnSpc>
                <a:spcPct val="148300"/>
              </a:lnSpc>
              <a:spcBef>
                <a:spcPts val="67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Digital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Spend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(Rs)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Print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Spend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(Rs)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Outdoor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Spend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(Rs)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Prediction</a:t>
            </a:r>
            <a:r>
              <a:rPr sz="215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Results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(4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cards):</a:t>
            </a:r>
            <a:endParaRPr sz="2150">
              <a:latin typeface="Segoe UI Semibold"/>
              <a:cs typeface="Segoe UI Semibold"/>
            </a:endParaRPr>
          </a:p>
          <a:p>
            <a:pPr marL="563880" indent="-283845">
              <a:lnSpc>
                <a:spcPct val="100000"/>
              </a:lnSpc>
              <a:spcBef>
                <a:spcPts val="18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Total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Budget</a:t>
            </a:r>
            <a:r>
              <a:rPr sz="215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 Sum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of all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channels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Predicted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Sales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ML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model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output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Expected</a:t>
            </a:r>
            <a:r>
              <a:rPr sz="2150" spc="6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45" dirty="0">
                <a:solidFill>
                  <a:srgbClr val="1F2328"/>
                </a:solidFill>
                <a:latin typeface="Segoe UI Semibold"/>
                <a:cs typeface="Segoe UI Semibold"/>
              </a:rPr>
              <a:t>Walk-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Ins</a:t>
            </a:r>
            <a:r>
              <a:rPr sz="2150" spc="6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Predicted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footfall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Expected</a:t>
            </a:r>
            <a:r>
              <a:rPr sz="2150" spc="3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ROI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/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Budget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ratio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666999"/>
            <a:ext cx="95250" cy="95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152774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63854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114799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1958975"/>
            <a:ext cx="5525135" cy="2938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Additional</a:t>
            </a:r>
            <a:r>
              <a:rPr sz="2150" spc="10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Insights:</a:t>
            </a:r>
            <a:endParaRPr sz="2150" dirty="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Budget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allocation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pie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chart</a:t>
            </a:r>
            <a:endParaRPr sz="2150" dirty="0">
              <a:latin typeface="Segoe UI"/>
              <a:cs typeface="Segoe UI"/>
            </a:endParaRPr>
          </a:p>
          <a:p>
            <a:pPr marL="564515" marR="1139190">
              <a:lnSpc>
                <a:spcPct val="146800"/>
              </a:lnSpc>
              <a:spcBef>
                <a:spcPts val="3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Predicted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vs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historical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bar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chart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Stock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recommendations</a:t>
            </a:r>
            <a:r>
              <a:rPr sz="2150" spc="8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table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Smart</a:t>
            </a:r>
            <a:r>
              <a:rPr sz="2150" spc="1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recommendations</a:t>
            </a:r>
            <a:r>
              <a:rPr sz="2150" spc="114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panel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AEA182-28EB-543A-49D0-E440942C6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5892"/>
            <a:ext cx="12192000" cy="564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97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72FF52-86AE-25E7-4518-B9F94A74D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8665"/>
            <a:ext cx="12192000" cy="526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206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0D5810-6416-864A-6D22-0C6002D30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5712"/>
            <a:ext cx="12192000" cy="57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99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30AC6D-3504-BCB9-22C3-B82FF650D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8879"/>
            <a:ext cx="12192000" cy="482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8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5667374"/>
            <a:ext cx="10696575" cy="600075"/>
            <a:chOff x="752474" y="566737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5672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1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1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5672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9"/>
                  </a:lnTo>
                  <a:lnTo>
                    <a:pt x="10666625" y="10740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1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44881" y="589542"/>
                  </a:lnTo>
                  <a:lnTo>
                    <a:pt x="10641507" y="590213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3"/>
                  </a:lnTo>
                  <a:lnTo>
                    <a:pt x="42167" y="589542"/>
                  </a:lnTo>
                  <a:lnTo>
                    <a:pt x="38793" y="588871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6"/>
                  </a:lnTo>
                  <a:lnTo>
                    <a:pt x="8828" y="567266"/>
                  </a:lnTo>
                  <a:lnTo>
                    <a:pt x="6917" y="564406"/>
                  </a:lnTo>
                  <a:lnTo>
                    <a:pt x="5304" y="561387"/>
                  </a:lnTo>
                  <a:lnTo>
                    <a:pt x="3987" y="558209"/>
                  </a:lnTo>
                  <a:lnTo>
                    <a:pt x="2671" y="555031"/>
                  </a:lnTo>
                  <a:lnTo>
                    <a:pt x="1677" y="551755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1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35" dirty="0"/>
              <a:t> </a:t>
            </a:r>
            <a:r>
              <a:rPr dirty="0"/>
              <a:t>12:</a:t>
            </a:r>
            <a:r>
              <a:rPr spc="40" dirty="0"/>
              <a:t> </a:t>
            </a:r>
            <a:r>
              <a:rPr dirty="0"/>
              <a:t>Machine</a:t>
            </a:r>
            <a:r>
              <a:rPr spc="40" dirty="0"/>
              <a:t> </a:t>
            </a:r>
            <a:r>
              <a:rPr dirty="0"/>
              <a:t>Learning</a:t>
            </a:r>
            <a:r>
              <a:rPr spc="40" dirty="0"/>
              <a:t> </a:t>
            </a:r>
            <a:r>
              <a:rPr spc="-10" dirty="0"/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1482725"/>
            <a:ext cx="6284595" cy="2452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Linear</a:t>
            </a:r>
            <a:r>
              <a:rPr sz="2150" spc="5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Regression:</a:t>
            </a:r>
            <a:endParaRPr sz="21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How</a:t>
            </a:r>
            <a:r>
              <a:rPr sz="215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It</a:t>
            </a:r>
            <a:r>
              <a:rPr sz="2150" spc="3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Works:</a:t>
            </a:r>
            <a:endParaRPr sz="2150">
              <a:latin typeface="Segoe UI Semibold"/>
              <a:cs typeface="Segoe UI Semibold"/>
            </a:endParaRPr>
          </a:p>
          <a:p>
            <a:pPr marL="563880" indent="-283845">
              <a:lnSpc>
                <a:spcPct val="100000"/>
              </a:lnSpc>
              <a:spcBef>
                <a:spcPts val="1920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Collect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historical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marketing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spend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&amp;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sales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feature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matrix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X: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[digital,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print,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outdoor]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563880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target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vector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y: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[sales]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903" y="4064000"/>
            <a:ext cx="180022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4.</a:t>
            </a:r>
            <a:r>
              <a:rPr sz="2150" spc="-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Train</a:t>
            </a:r>
            <a:r>
              <a:rPr sz="2150" spc="-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model: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67024" y="4086224"/>
            <a:ext cx="2124075" cy="371475"/>
          </a:xfrm>
          <a:custGeom>
            <a:avLst/>
            <a:gdLst/>
            <a:ahLst/>
            <a:cxnLst/>
            <a:rect l="l" t="t" r="r" b="b"/>
            <a:pathLst>
              <a:path w="2124075" h="371475">
                <a:moveTo>
                  <a:pt x="207067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070677" y="0"/>
                </a:lnTo>
                <a:lnTo>
                  <a:pt x="2109988" y="19391"/>
                </a:lnTo>
                <a:lnTo>
                  <a:pt x="2124074" y="53397"/>
                </a:lnTo>
                <a:lnTo>
                  <a:pt x="2124074" y="318077"/>
                </a:lnTo>
                <a:lnTo>
                  <a:pt x="2104682" y="357389"/>
                </a:lnTo>
                <a:lnTo>
                  <a:pt x="2074393" y="371108"/>
                </a:lnTo>
                <a:lnTo>
                  <a:pt x="207067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46895" y="4104689"/>
            <a:ext cx="196215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model.fit(X,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y)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012" y="4549775"/>
            <a:ext cx="1483995" cy="92836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003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5.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Predict: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Equation:</a:t>
            </a:r>
            <a:endParaRPr sz="2150">
              <a:latin typeface="Segoe UI Semibold"/>
              <a:cs typeface="Segoe UI Semibold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85999" y="4571999"/>
            <a:ext cx="5734050" cy="371475"/>
          </a:xfrm>
          <a:custGeom>
            <a:avLst/>
            <a:gdLst/>
            <a:ahLst/>
            <a:cxnLst/>
            <a:rect l="l" t="t" r="r" b="b"/>
            <a:pathLst>
              <a:path w="5734050" h="371475">
                <a:moveTo>
                  <a:pt x="5680651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5680651" y="0"/>
                </a:lnTo>
                <a:lnTo>
                  <a:pt x="5719964" y="19391"/>
                </a:lnTo>
                <a:lnTo>
                  <a:pt x="5734049" y="53397"/>
                </a:lnTo>
                <a:lnTo>
                  <a:pt x="5734049" y="318077"/>
                </a:lnTo>
                <a:lnTo>
                  <a:pt x="5714656" y="357389"/>
                </a:lnTo>
                <a:lnTo>
                  <a:pt x="5684367" y="371108"/>
                </a:lnTo>
                <a:lnTo>
                  <a:pt x="5680651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62894" y="4590464"/>
            <a:ext cx="557657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predicted_sales</a:t>
            </a:r>
            <a:r>
              <a:rPr sz="185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model.predict(new_budget)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700" y="5791372"/>
            <a:ext cx="789622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Sales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Base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(β₁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×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Digital)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(β₂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×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Print)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(β₃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×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Outdoor)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666999"/>
            <a:ext cx="95250" cy="9524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23974" y="2562224"/>
            <a:ext cx="276225" cy="276225"/>
            <a:chOff x="1323974" y="2562224"/>
            <a:chExt cx="276225" cy="276225"/>
          </a:xfrm>
        </p:grpSpPr>
        <p:sp>
          <p:nvSpPr>
            <p:cNvPr id="4" name="object 4"/>
            <p:cNvSpPr/>
            <p:nvPr/>
          </p:nvSpPr>
          <p:spPr>
            <a:xfrm>
              <a:off x="1323974" y="2562224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801" y="2608241"/>
              <a:ext cx="189288" cy="185927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152774"/>
            <a:ext cx="95250" cy="9524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323974" y="3047999"/>
            <a:ext cx="276225" cy="276225"/>
            <a:chOff x="1323974" y="3047999"/>
            <a:chExt cx="276225" cy="276225"/>
          </a:xfrm>
        </p:grpSpPr>
        <p:sp>
          <p:nvSpPr>
            <p:cNvPr id="8" name="object 8"/>
            <p:cNvSpPr/>
            <p:nvPr/>
          </p:nvSpPr>
          <p:spPr>
            <a:xfrm>
              <a:off x="1323974" y="3047999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801" y="3094016"/>
              <a:ext cx="189288" cy="18592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638549"/>
            <a:ext cx="95250" cy="9524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323974" y="3533775"/>
            <a:ext cx="276225" cy="276225"/>
            <a:chOff x="1323974" y="3533775"/>
            <a:chExt cx="276225" cy="276225"/>
          </a:xfrm>
        </p:grpSpPr>
        <p:sp>
          <p:nvSpPr>
            <p:cNvPr id="12" name="object 12"/>
            <p:cNvSpPr/>
            <p:nvPr/>
          </p:nvSpPr>
          <p:spPr>
            <a:xfrm>
              <a:off x="1323974" y="3533775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801" y="3579792"/>
              <a:ext cx="189288" cy="185927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114799"/>
            <a:ext cx="95250" cy="9524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323974" y="4010025"/>
            <a:ext cx="276225" cy="276225"/>
            <a:chOff x="1323974" y="4010025"/>
            <a:chExt cx="276225" cy="276225"/>
          </a:xfrm>
        </p:grpSpPr>
        <p:sp>
          <p:nvSpPr>
            <p:cNvPr id="16" name="object 16"/>
            <p:cNvSpPr/>
            <p:nvPr/>
          </p:nvSpPr>
          <p:spPr>
            <a:xfrm>
              <a:off x="1323974" y="4010025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801" y="4056042"/>
              <a:ext cx="189288" cy="18592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5012" y="1958975"/>
            <a:ext cx="6061075" cy="2318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Why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Linear</a:t>
            </a:r>
            <a:r>
              <a:rPr sz="215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Regression?</a:t>
            </a:r>
            <a:endParaRPr sz="2150" dirty="0">
              <a:latin typeface="Segoe UI Semibold"/>
              <a:cs typeface="Segoe UI Semibold"/>
            </a:endParaRPr>
          </a:p>
          <a:p>
            <a:pPr marL="958215" marR="1867535">
              <a:lnSpc>
                <a:spcPct val="148300"/>
              </a:lnSpc>
              <a:spcBef>
                <a:spcPts val="5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Simple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interpretable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Fast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training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(milliseconds)</a:t>
            </a:r>
            <a:endParaRPr sz="2150" dirty="0">
              <a:latin typeface="Segoe UI"/>
              <a:cs typeface="Segoe UI"/>
            </a:endParaRPr>
          </a:p>
          <a:p>
            <a:pPr marL="958215" marR="5080">
              <a:lnSpc>
                <a:spcPct val="145300"/>
              </a:lnSpc>
              <a:spcBef>
                <a:spcPts val="8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Works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with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small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datasets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(10-15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months)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Reliable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predictions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(±15%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accuracy)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419349"/>
            <a:ext cx="10696575" cy="3295650"/>
            <a:chOff x="752474" y="2419349"/>
            <a:chExt cx="10696575" cy="3295650"/>
          </a:xfrm>
        </p:grpSpPr>
        <p:sp>
          <p:nvSpPr>
            <p:cNvPr id="3" name="object 3"/>
            <p:cNvSpPr/>
            <p:nvPr/>
          </p:nvSpPr>
          <p:spPr>
            <a:xfrm>
              <a:off x="757237" y="2424112"/>
              <a:ext cx="10687050" cy="3286125"/>
            </a:xfrm>
            <a:custGeom>
              <a:avLst/>
              <a:gdLst/>
              <a:ahLst/>
              <a:cxnLst/>
              <a:rect l="l" t="t" r="r" b="b"/>
              <a:pathLst>
                <a:path w="10687050" h="3286125">
                  <a:moveTo>
                    <a:pt x="10638100" y="3286124"/>
                  </a:moveTo>
                  <a:lnTo>
                    <a:pt x="48947" y="3286124"/>
                  </a:lnTo>
                  <a:lnTo>
                    <a:pt x="45540" y="3285788"/>
                  </a:lnTo>
                  <a:lnTo>
                    <a:pt x="10739" y="3265701"/>
                  </a:lnTo>
                  <a:lnTo>
                    <a:pt x="0" y="3237177"/>
                  </a:lnTo>
                  <a:lnTo>
                    <a:pt x="0" y="32337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3237177"/>
                  </a:lnTo>
                  <a:lnTo>
                    <a:pt x="10669272" y="3273212"/>
                  </a:lnTo>
                  <a:lnTo>
                    <a:pt x="10641507" y="3285788"/>
                  </a:lnTo>
                  <a:lnTo>
                    <a:pt x="10638100" y="32861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424112"/>
              <a:ext cx="10687050" cy="3286125"/>
            </a:xfrm>
            <a:custGeom>
              <a:avLst/>
              <a:gdLst/>
              <a:ahLst/>
              <a:cxnLst/>
              <a:rect l="l" t="t" r="r" b="b"/>
              <a:pathLst>
                <a:path w="10687050" h="3286125">
                  <a:moveTo>
                    <a:pt x="0" y="32337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233737"/>
                  </a:lnTo>
                  <a:lnTo>
                    <a:pt x="10687049" y="3237177"/>
                  </a:lnTo>
                  <a:lnTo>
                    <a:pt x="10686713" y="3240583"/>
                  </a:lnTo>
                  <a:lnTo>
                    <a:pt x="10666625" y="3275384"/>
                  </a:lnTo>
                  <a:lnTo>
                    <a:pt x="10634661" y="3286124"/>
                  </a:lnTo>
                  <a:lnTo>
                    <a:pt x="52387" y="3286124"/>
                  </a:lnTo>
                  <a:lnTo>
                    <a:pt x="23282" y="3277295"/>
                  </a:lnTo>
                  <a:lnTo>
                    <a:pt x="20422" y="3275384"/>
                  </a:lnTo>
                  <a:lnTo>
                    <a:pt x="1006" y="3243956"/>
                  </a:lnTo>
                  <a:lnTo>
                    <a:pt x="335" y="3240583"/>
                  </a:lnTo>
                  <a:lnTo>
                    <a:pt x="0" y="3237177"/>
                  </a:lnTo>
                  <a:lnTo>
                    <a:pt x="0" y="32337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142682"/>
            <a:ext cx="605917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25" dirty="0"/>
              <a:t> </a:t>
            </a:r>
            <a:r>
              <a:rPr dirty="0"/>
              <a:t>13:</a:t>
            </a:r>
            <a:r>
              <a:rPr spc="25" dirty="0"/>
              <a:t> </a:t>
            </a:r>
            <a:r>
              <a:rPr dirty="0"/>
              <a:t>Complete</a:t>
            </a:r>
            <a:r>
              <a:rPr spc="25" dirty="0"/>
              <a:t> </a:t>
            </a:r>
            <a:r>
              <a:rPr dirty="0"/>
              <a:t>Project</a:t>
            </a:r>
            <a:r>
              <a:rPr spc="25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1882775"/>
            <a:ext cx="5741035" cy="3662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Data</a:t>
            </a:r>
            <a:r>
              <a:rPr sz="2150" spc="5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Flow:</a:t>
            </a:r>
            <a:endParaRPr sz="2150">
              <a:latin typeface="Segoe UI Semibold"/>
              <a:cs typeface="Segoe UI Semibold"/>
            </a:endParaRPr>
          </a:p>
          <a:p>
            <a:pPr marL="179070">
              <a:lnSpc>
                <a:spcPts val="2160"/>
              </a:lnSpc>
              <a:spcBef>
                <a:spcPts val="259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CSV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Files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import_data.py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MySQL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Database</a:t>
            </a:r>
            <a:endParaRPr sz="1850">
              <a:latin typeface="Consolas"/>
              <a:cs typeface="Consolas"/>
            </a:endParaRPr>
          </a:p>
          <a:p>
            <a:pPr marL="824230">
              <a:lnSpc>
                <a:spcPts val="2135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↓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35"/>
              </a:lnSpc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User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Login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Session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Created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Dashboard</a:t>
            </a:r>
            <a:endParaRPr sz="1850">
              <a:latin typeface="Consolas"/>
              <a:cs typeface="Consolas"/>
            </a:endParaRPr>
          </a:p>
          <a:p>
            <a:pPr marL="824230">
              <a:lnSpc>
                <a:spcPts val="2100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↓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35"/>
              </a:lnSpc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User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Actions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Flask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Routes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SQL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Queries</a:t>
            </a:r>
            <a:endParaRPr sz="1850">
              <a:latin typeface="Consolas"/>
              <a:cs typeface="Consolas"/>
            </a:endParaRPr>
          </a:p>
          <a:p>
            <a:pPr marL="824230">
              <a:lnSpc>
                <a:spcPts val="2135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↓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00"/>
              </a:lnSpc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Database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Results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Processing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JSON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1F2328"/>
                </a:solidFill>
                <a:latin typeface="Consolas"/>
                <a:cs typeface="Consolas"/>
              </a:rPr>
              <a:t>Data</a:t>
            </a:r>
            <a:endParaRPr sz="1850">
              <a:latin typeface="Consolas"/>
              <a:cs typeface="Consolas"/>
            </a:endParaRPr>
          </a:p>
          <a:p>
            <a:pPr marL="824230">
              <a:lnSpc>
                <a:spcPts val="2135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↓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35"/>
              </a:lnSpc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Chart.js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Renders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Visual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Analytics</a:t>
            </a:r>
            <a:endParaRPr sz="1850">
              <a:latin typeface="Consolas"/>
              <a:cs typeface="Consolas"/>
            </a:endParaRPr>
          </a:p>
          <a:p>
            <a:pPr marL="824230">
              <a:lnSpc>
                <a:spcPts val="2100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↓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ML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Model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Predicts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85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Recommendations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428874"/>
            <a:ext cx="95250" cy="95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914649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39089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876674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362449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1711325"/>
            <a:ext cx="3855085" cy="2866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Key Technologies at</a:t>
            </a:r>
            <a:r>
              <a:rPr sz="215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Each</a:t>
            </a:r>
            <a:r>
              <a:rPr sz="2150" spc="-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Step:</a:t>
            </a:r>
            <a:endParaRPr sz="2150" dirty="0">
              <a:latin typeface="Segoe UI Semibold"/>
              <a:cs typeface="Segoe UI Semibold"/>
            </a:endParaRPr>
          </a:p>
          <a:p>
            <a:pPr marL="564515" marR="337185">
              <a:lnSpc>
                <a:spcPct val="147300"/>
              </a:lnSpc>
              <a:spcBef>
                <a:spcPts val="70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pandas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file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parsing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MySQL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storage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Flask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routing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&amp;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logic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Chart.js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visualization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scikit-learn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predictions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809307"/>
            <a:ext cx="430339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10" dirty="0"/>
              <a:t> </a:t>
            </a:r>
            <a:r>
              <a:rPr dirty="0"/>
              <a:t>14:</a:t>
            </a:r>
            <a:r>
              <a:rPr spc="15" dirty="0"/>
              <a:t> </a:t>
            </a:r>
            <a:r>
              <a:rPr dirty="0"/>
              <a:t>Results</a:t>
            </a:r>
            <a:r>
              <a:rPr spc="1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Impact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257424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74319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219449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352924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838699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5324474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5810249"/>
            <a:ext cx="95250" cy="952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Time</a:t>
            </a:r>
            <a:r>
              <a:rPr spc="45" dirty="0"/>
              <a:t> </a:t>
            </a:r>
            <a:r>
              <a:rPr spc="-10" dirty="0"/>
              <a:t>Savings:</a:t>
            </a:r>
          </a:p>
          <a:p>
            <a:pPr marL="564515" marR="5080" algn="just">
              <a:lnSpc>
                <a:spcPct val="148300"/>
              </a:lnSpc>
              <a:spcBef>
                <a:spcPts val="670"/>
              </a:spcBef>
            </a:pPr>
            <a:r>
              <a:rPr dirty="0">
                <a:latin typeface="Segoe UI"/>
                <a:cs typeface="Segoe UI"/>
              </a:rPr>
              <a:t>Stock</a:t>
            </a:r>
            <a:r>
              <a:rPr spc="25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counting:</a:t>
            </a:r>
            <a:r>
              <a:rPr spc="25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30</a:t>
            </a:r>
            <a:r>
              <a:rPr spc="25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min</a:t>
            </a:r>
            <a:r>
              <a:rPr spc="20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→</a:t>
            </a:r>
            <a:r>
              <a:rPr spc="25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5</a:t>
            </a:r>
            <a:r>
              <a:rPr spc="25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min</a:t>
            </a:r>
            <a:r>
              <a:rPr spc="25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daily</a:t>
            </a:r>
            <a:r>
              <a:rPr spc="25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(25</a:t>
            </a:r>
            <a:r>
              <a:rPr spc="20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min</a:t>
            </a:r>
            <a:r>
              <a:rPr spc="25" dirty="0">
                <a:latin typeface="Segoe UI"/>
                <a:cs typeface="Segoe UI"/>
              </a:rPr>
              <a:t> </a:t>
            </a:r>
            <a:r>
              <a:rPr spc="-10" dirty="0">
                <a:latin typeface="Segoe UI"/>
                <a:cs typeface="Segoe UI"/>
              </a:rPr>
              <a:t>saved) </a:t>
            </a:r>
            <a:r>
              <a:rPr dirty="0">
                <a:latin typeface="Segoe UI"/>
                <a:cs typeface="Segoe UI"/>
              </a:rPr>
              <a:t>Monthly</a:t>
            </a:r>
            <a:r>
              <a:rPr spc="30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reports:</a:t>
            </a:r>
            <a:r>
              <a:rPr spc="45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8</a:t>
            </a:r>
            <a:r>
              <a:rPr spc="40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hours</a:t>
            </a:r>
            <a:r>
              <a:rPr spc="45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→</a:t>
            </a:r>
            <a:r>
              <a:rPr spc="40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5</a:t>
            </a:r>
            <a:r>
              <a:rPr spc="45" dirty="0">
                <a:latin typeface="Segoe UI"/>
                <a:cs typeface="Segoe UI"/>
              </a:rPr>
              <a:t> </a:t>
            </a:r>
            <a:r>
              <a:rPr spc="-10" dirty="0">
                <a:latin typeface="Segoe UI"/>
                <a:cs typeface="Segoe UI"/>
              </a:rPr>
              <a:t>minutes</a:t>
            </a:r>
          </a:p>
          <a:p>
            <a:pPr marL="564515" algn="just">
              <a:lnSpc>
                <a:spcPct val="100000"/>
              </a:lnSpc>
              <a:spcBef>
                <a:spcPts val="1170"/>
              </a:spcBef>
            </a:pPr>
            <a:r>
              <a:rPr spc="-10" dirty="0"/>
              <a:t>Total:</a:t>
            </a:r>
            <a:r>
              <a:rPr spc="15" dirty="0"/>
              <a:t> </a:t>
            </a:r>
            <a:r>
              <a:rPr dirty="0"/>
              <a:t>22.5</a:t>
            </a:r>
            <a:r>
              <a:rPr spc="20" dirty="0"/>
              <a:t> </a:t>
            </a:r>
            <a:r>
              <a:rPr dirty="0"/>
              <a:t>hours</a:t>
            </a:r>
            <a:r>
              <a:rPr spc="15" dirty="0"/>
              <a:t> </a:t>
            </a:r>
            <a:r>
              <a:rPr dirty="0"/>
              <a:t>saved</a:t>
            </a:r>
            <a:r>
              <a:rPr spc="20" dirty="0"/>
              <a:t> </a:t>
            </a:r>
            <a:r>
              <a:rPr dirty="0"/>
              <a:t>per</a:t>
            </a:r>
            <a:r>
              <a:rPr spc="15" dirty="0"/>
              <a:t> </a:t>
            </a:r>
            <a:r>
              <a:rPr spc="-10" dirty="0"/>
              <a:t>month</a:t>
            </a: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/>
              <a:t>Cost</a:t>
            </a:r>
            <a:r>
              <a:rPr spc="40" dirty="0"/>
              <a:t> </a:t>
            </a:r>
            <a:r>
              <a:rPr spc="-10" dirty="0"/>
              <a:t>Savings:</a:t>
            </a:r>
          </a:p>
          <a:p>
            <a:pPr marL="564515" algn="just">
              <a:lnSpc>
                <a:spcPct val="100000"/>
              </a:lnSpc>
              <a:spcBef>
                <a:spcPts val="1845"/>
              </a:spcBef>
            </a:pPr>
            <a:r>
              <a:rPr dirty="0">
                <a:latin typeface="Segoe UI"/>
                <a:cs typeface="Segoe UI"/>
              </a:rPr>
              <a:t>Labor</a:t>
            </a:r>
            <a:r>
              <a:rPr spc="25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cost:</a:t>
            </a:r>
            <a:r>
              <a:rPr spc="30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Rs</a:t>
            </a:r>
            <a:r>
              <a:rPr spc="25" dirty="0">
                <a:latin typeface="Segoe UI"/>
                <a:cs typeface="Segoe UI"/>
              </a:rPr>
              <a:t> </a:t>
            </a:r>
            <a:r>
              <a:rPr spc="-10" dirty="0">
                <a:latin typeface="Segoe UI"/>
                <a:cs typeface="Segoe UI"/>
              </a:rPr>
              <a:t>4,500/month</a:t>
            </a:r>
          </a:p>
          <a:p>
            <a:pPr marL="564515" marR="1847214" algn="just">
              <a:lnSpc>
                <a:spcPts val="3820"/>
              </a:lnSpc>
              <a:spcBef>
                <a:spcPts val="140"/>
              </a:spcBef>
            </a:pPr>
            <a:r>
              <a:rPr dirty="0">
                <a:latin typeface="Segoe UI"/>
                <a:cs typeface="Segoe UI"/>
              </a:rPr>
              <a:t>Reduced</a:t>
            </a:r>
            <a:r>
              <a:rPr spc="40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stockouts:</a:t>
            </a:r>
            <a:r>
              <a:rPr spc="50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Rs</a:t>
            </a:r>
            <a:r>
              <a:rPr spc="50" dirty="0">
                <a:latin typeface="Segoe UI"/>
                <a:cs typeface="Segoe UI"/>
              </a:rPr>
              <a:t> </a:t>
            </a:r>
            <a:r>
              <a:rPr spc="-10" dirty="0">
                <a:latin typeface="Segoe UI"/>
                <a:cs typeface="Segoe UI"/>
              </a:rPr>
              <a:t>15,000/month </a:t>
            </a:r>
            <a:r>
              <a:rPr dirty="0">
                <a:latin typeface="Segoe UI"/>
                <a:cs typeface="Segoe UI"/>
              </a:rPr>
              <a:t>Reduced</a:t>
            </a:r>
            <a:r>
              <a:rPr spc="50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overstock:</a:t>
            </a:r>
            <a:r>
              <a:rPr spc="50" dirty="0">
                <a:latin typeface="Segoe UI"/>
                <a:cs typeface="Segoe UI"/>
              </a:rPr>
              <a:t> </a:t>
            </a:r>
            <a:r>
              <a:rPr dirty="0">
                <a:latin typeface="Segoe UI"/>
                <a:cs typeface="Segoe UI"/>
              </a:rPr>
              <a:t>Rs</a:t>
            </a:r>
            <a:r>
              <a:rPr spc="50" dirty="0">
                <a:latin typeface="Segoe UI"/>
                <a:cs typeface="Segoe UI"/>
              </a:rPr>
              <a:t> </a:t>
            </a:r>
            <a:r>
              <a:rPr spc="-10" dirty="0">
                <a:latin typeface="Segoe UI"/>
                <a:cs typeface="Segoe UI"/>
              </a:rPr>
              <a:t>20,000/month </a:t>
            </a:r>
            <a:r>
              <a:rPr spc="-10" dirty="0"/>
              <a:t>Total </a:t>
            </a:r>
            <a:r>
              <a:rPr dirty="0"/>
              <a:t>benefit:</a:t>
            </a:r>
            <a:r>
              <a:rPr spc="-5" dirty="0"/>
              <a:t> </a:t>
            </a:r>
            <a:r>
              <a:rPr dirty="0"/>
              <a:t>Rs</a:t>
            </a:r>
            <a:r>
              <a:rPr spc="-5" dirty="0"/>
              <a:t> </a:t>
            </a:r>
            <a:r>
              <a:rPr spc="-10" dirty="0"/>
              <a:t>39,500/month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714624"/>
            <a:ext cx="95250" cy="95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190874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67664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162424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648199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1997075"/>
            <a:ext cx="5615940" cy="2861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Qualitative</a:t>
            </a:r>
            <a:r>
              <a:rPr sz="2150" spc="9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Benefits:</a:t>
            </a:r>
            <a:endParaRPr sz="2150" dirty="0">
              <a:latin typeface="Segoe UI Semibold"/>
              <a:cs typeface="Segoe UI Semibold"/>
            </a:endParaRPr>
          </a:p>
          <a:p>
            <a:pPr marL="564515" marR="361950">
              <a:lnSpc>
                <a:spcPct val="145300"/>
              </a:lnSpc>
              <a:spcBef>
                <a:spcPts val="75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Data-driven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decisions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br>
              <a:rPr lang="en-US" sz="2150" spc="75" dirty="0">
                <a:solidFill>
                  <a:srgbClr val="1F2328"/>
                </a:solidFill>
                <a:latin typeface="Segoe UI"/>
                <a:cs typeface="Segoe UI"/>
              </a:rPr>
            </a:b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Inventory</a:t>
            </a:r>
            <a:r>
              <a:rPr sz="2150" spc="8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optimization</a:t>
            </a:r>
            <a:endParaRPr sz="2150" dirty="0">
              <a:latin typeface="Segoe UI"/>
              <a:cs typeface="Segoe UI"/>
            </a:endParaRPr>
          </a:p>
          <a:p>
            <a:pPr marL="564515" marR="5080">
              <a:lnSpc>
                <a:spcPts val="3829"/>
              </a:lnSpc>
              <a:spcBef>
                <a:spcPts val="33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Better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marketing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ROI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(15%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improvement)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Complete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audit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trail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90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Scalable</a:t>
            </a:r>
            <a:r>
              <a:rPr sz="2150" spc="7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system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SLIDE</a:t>
            </a:r>
            <a:r>
              <a:rPr spc="25" dirty="0"/>
              <a:t> </a:t>
            </a:r>
            <a:r>
              <a:rPr dirty="0"/>
              <a:t>15:</a:t>
            </a:r>
            <a:r>
              <a:rPr spc="30" dirty="0"/>
              <a:t> </a:t>
            </a:r>
            <a:r>
              <a:rPr dirty="0"/>
              <a:t>Conclusion</a:t>
            </a:r>
            <a:r>
              <a:rPr spc="30" dirty="0"/>
              <a:t> </a:t>
            </a:r>
            <a:r>
              <a:rPr dirty="0"/>
              <a:t>&amp;</a:t>
            </a:r>
            <a:r>
              <a:rPr spc="30" dirty="0"/>
              <a:t> </a:t>
            </a:r>
            <a:r>
              <a:rPr dirty="0"/>
              <a:t>Next</a:t>
            </a:r>
            <a:r>
              <a:rPr spc="30" dirty="0"/>
              <a:t> </a:t>
            </a:r>
            <a:r>
              <a:rPr spc="-10" dirty="0"/>
              <a:t>Steps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190749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676524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571874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057649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5191124"/>
            <a:ext cx="95250" cy="9524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323974" y="5086349"/>
            <a:ext cx="276225" cy="276225"/>
            <a:chOff x="1323974" y="5086349"/>
            <a:chExt cx="276225" cy="276225"/>
          </a:xfrm>
        </p:grpSpPr>
        <p:sp>
          <p:nvSpPr>
            <p:cNvPr id="9" name="object 9"/>
            <p:cNvSpPr/>
            <p:nvPr/>
          </p:nvSpPr>
          <p:spPr>
            <a:xfrm>
              <a:off x="1323974" y="5086349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801" y="5132366"/>
              <a:ext cx="189288" cy="185927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5676899"/>
            <a:ext cx="95250" cy="9524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323974" y="5572124"/>
            <a:ext cx="276225" cy="276225"/>
            <a:chOff x="1323974" y="5572124"/>
            <a:chExt cx="276225" cy="276225"/>
          </a:xfrm>
        </p:grpSpPr>
        <p:sp>
          <p:nvSpPr>
            <p:cNvPr id="13" name="object 13"/>
            <p:cNvSpPr/>
            <p:nvPr/>
          </p:nvSpPr>
          <p:spPr>
            <a:xfrm>
              <a:off x="1323974" y="5572124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801" y="5618141"/>
              <a:ext cx="189288" cy="185927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6162674"/>
            <a:ext cx="95250" cy="95249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323974" y="6057899"/>
            <a:ext cx="276225" cy="276225"/>
            <a:chOff x="1323974" y="6057899"/>
            <a:chExt cx="276225" cy="276225"/>
          </a:xfrm>
        </p:grpSpPr>
        <p:sp>
          <p:nvSpPr>
            <p:cNvPr id="17" name="object 17"/>
            <p:cNvSpPr/>
            <p:nvPr/>
          </p:nvSpPr>
          <p:spPr>
            <a:xfrm>
              <a:off x="1323974" y="6057899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801" y="6103916"/>
              <a:ext cx="189288" cy="185927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6638924"/>
            <a:ext cx="95250" cy="95249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1323974" y="6534150"/>
            <a:ext cx="276225" cy="276225"/>
            <a:chOff x="1323974" y="6534150"/>
            <a:chExt cx="276225" cy="276225"/>
          </a:xfrm>
        </p:grpSpPr>
        <p:sp>
          <p:nvSpPr>
            <p:cNvPr id="21" name="object 21"/>
            <p:cNvSpPr/>
            <p:nvPr/>
          </p:nvSpPr>
          <p:spPr>
            <a:xfrm>
              <a:off x="1323974" y="65341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801" y="6580167"/>
              <a:ext cx="189288" cy="18592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35012" y="1482725"/>
            <a:ext cx="4123054" cy="53670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What</a:t>
            </a:r>
            <a:r>
              <a:rPr sz="215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We</a:t>
            </a:r>
            <a:r>
              <a:rPr sz="2150" spc="2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Delivered:</a:t>
            </a:r>
            <a:endParaRPr sz="2150">
              <a:latin typeface="Segoe UI Semibold"/>
              <a:cs typeface="Segoe UI Semibold"/>
            </a:endParaRPr>
          </a:p>
          <a:p>
            <a:pPr marL="564515" marR="676275">
              <a:lnSpc>
                <a:spcPct val="148300"/>
              </a:lnSpc>
              <a:spcBef>
                <a:spcPts val="5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6-page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web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application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19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Flask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routes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-5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database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tables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ML</a:t>
            </a:r>
            <a:r>
              <a:rPr sz="2150" spc="7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prediction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model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Complete</a:t>
            </a:r>
            <a:r>
              <a:rPr sz="2150" spc="9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documentation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Success</a:t>
            </a:r>
            <a:r>
              <a:rPr sz="2150" spc="7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Criteria</a:t>
            </a:r>
            <a:r>
              <a:rPr sz="2150" spc="7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Met:</a:t>
            </a:r>
            <a:endParaRPr sz="2150">
              <a:latin typeface="Segoe UI Semibold"/>
              <a:cs typeface="Segoe UI Semibold"/>
            </a:endParaRPr>
          </a:p>
          <a:p>
            <a:pPr marL="9582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Secure</a:t>
            </a:r>
            <a:r>
              <a:rPr sz="2150" spc="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authentication</a:t>
            </a:r>
            <a:endParaRPr sz="2150">
              <a:latin typeface="Segoe UI"/>
              <a:cs typeface="Segoe UI"/>
            </a:endParaRPr>
          </a:p>
          <a:p>
            <a:pPr marL="958215" marR="5080">
              <a:lnSpc>
                <a:spcPts val="3829"/>
              </a:lnSpc>
              <a:spcBef>
                <a:spcPts val="334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Fast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performance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(&lt;2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sec)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Accurate</a:t>
            </a:r>
            <a:r>
              <a:rPr sz="2150" spc="8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predictions</a:t>
            </a:r>
            <a:endParaRPr sz="2150">
              <a:latin typeface="Segoe UI"/>
              <a:cs typeface="Segoe UI"/>
            </a:endParaRPr>
          </a:p>
          <a:p>
            <a:pPr marL="958215">
              <a:lnSpc>
                <a:spcPct val="100000"/>
              </a:lnSpc>
              <a:spcBef>
                <a:spcPts val="8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User-friendly</a:t>
            </a:r>
            <a:r>
              <a:rPr sz="2150" spc="1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interface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1049</Words>
  <Application>Microsoft Office PowerPoint</Application>
  <PresentationFormat>Widescreen</PresentationFormat>
  <Paragraphs>164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Consolas</vt:lpstr>
      <vt:lpstr>Segoe UI</vt:lpstr>
      <vt:lpstr>Segoe UI Semibold</vt:lpstr>
      <vt:lpstr>Office Theme</vt:lpstr>
      <vt:lpstr>Hardware &amp; Plywood Store Analytics System</vt:lpstr>
      <vt:lpstr>PowerPoint Presentation</vt:lpstr>
      <vt:lpstr>SLIDE 1: Title Slide</vt:lpstr>
      <vt:lpstr>SLIDE 2: Project Overview</vt:lpstr>
      <vt:lpstr>SLIDE 3: Technology Stack</vt:lpstr>
      <vt:lpstr>SLIDE 4: Database Structure</vt:lpstr>
      <vt:lpstr>SLIDE 5: Login Page</vt:lpstr>
      <vt:lpstr>SLIDE 6: Dashboard - Product Management</vt:lpstr>
      <vt:lpstr>PowerPoint Presentation</vt:lpstr>
      <vt:lpstr>PowerPoint Presentation</vt:lpstr>
      <vt:lpstr>PowerPoint Presentation</vt:lpstr>
      <vt:lpstr>SLIDE 7: Stock Movement Log</vt:lpstr>
      <vt:lpstr>PowerPoint Presentation</vt:lpstr>
      <vt:lpstr>SLIDE 8: Monthly History - Analytics Dashboard</vt:lpstr>
      <vt:lpstr>PowerPoint Presentation</vt:lpstr>
      <vt:lpstr>PowerPoint Presentation</vt:lpstr>
      <vt:lpstr>PowerPoint Presentation</vt:lpstr>
      <vt:lpstr>SLIDE 9: How Charts Work</vt:lpstr>
      <vt:lpstr>SLIDE 10: Upload Data Page</vt:lpstr>
      <vt:lpstr>PowerPoint Presentation</vt:lpstr>
      <vt:lpstr>PowerPoint Presentation</vt:lpstr>
      <vt:lpstr>SLIDE 11: Sales Predictions (ML Page)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SLIDE 12: Machine Learning Model</vt:lpstr>
      <vt:lpstr>PowerPoint Presentation</vt:lpstr>
      <vt:lpstr>SLIDE 13: Complete Project Workflow</vt:lpstr>
      <vt:lpstr>PowerPoint Presentation</vt:lpstr>
      <vt:lpstr>SLIDE 14: Results &amp; Impact</vt:lpstr>
      <vt:lpstr>PowerPoint Presentation</vt:lpstr>
      <vt:lpstr>SLIDE 15: Conclusion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&amp; Plywood Store Analytics System</dc:title>
  <cp:lastModifiedBy>Santosh K</cp:lastModifiedBy>
  <cp:revision>6</cp:revision>
  <dcterms:created xsi:type="dcterms:W3CDTF">2026-03-10T10:43:43Z</dcterms:created>
  <dcterms:modified xsi:type="dcterms:W3CDTF">2026-03-11T11:42:38Z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2026-03-10T00:00:00Z</vt:filetime>
  </property>
  <property fmtid="{D5CDD505-2E9C-101B-9397-08002B2CF9AE}" pid="3" name="Creator">
    <vt:lpwstr>Mozilla/5.0 (Windows NT 10.0; Win64; x64) AppleWebKit/537.36 (KHTML, like Gecko) Chrome/145.0.0.0 Safari/537.36</vt:lpwstr>
  </property>
  <property fmtid="{D5CDD505-2E9C-101B-9397-08002B2CF9AE}" pid="4" name="LastSaved">
    <vt:filetime>2026-03-10T00:00:00Z</vt:filetime>
  </property>
  <property fmtid="{D5CDD505-2E9C-101B-9397-08002B2CF9AE}" pid="5" name="Producer">
    <vt:lpwstr>Skia/PDF m145</vt:lpwstr>
  </property>
</Properties>
</file>